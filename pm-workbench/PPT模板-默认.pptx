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5"/>
  </p:notesMasterIdLst>
  <p:handoutMasterIdLst>
    <p:handoutMasterId r:id="rId26"/>
  </p:handoutMasterIdLst>
  <p:sldIdLst>
    <p:sldId id="267" r:id="rId2"/>
    <p:sldId id="1312" r:id="rId3"/>
    <p:sldId id="1306" r:id="rId4"/>
    <p:sldId id="1289" r:id="rId5"/>
    <p:sldId id="279" r:id="rId6"/>
    <p:sldId id="1261" r:id="rId7"/>
    <p:sldId id="1269" r:id="rId8"/>
    <p:sldId id="1310" r:id="rId9"/>
    <p:sldId id="1302" r:id="rId10"/>
    <p:sldId id="1270" r:id="rId11"/>
    <p:sldId id="1283" r:id="rId12"/>
    <p:sldId id="1303" r:id="rId13"/>
    <p:sldId id="1307" r:id="rId14"/>
    <p:sldId id="1304" r:id="rId15"/>
    <p:sldId id="1299" r:id="rId16"/>
    <p:sldId id="1284" r:id="rId17"/>
    <p:sldId id="1273" r:id="rId18"/>
    <p:sldId id="1305" r:id="rId19"/>
    <p:sldId id="1313" r:id="rId20"/>
    <p:sldId id="1285" r:id="rId21"/>
    <p:sldId id="1311" r:id="rId22"/>
    <p:sldId id="1278" r:id="rId23"/>
    <p:sldId id="793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422F8F0D-674D-4CD0-848A-98D8EA3F20EC}">
          <p14:sldIdLst>
            <p14:sldId id="267"/>
            <p14:sldId id="1312"/>
            <p14:sldId id="1306"/>
          </p14:sldIdLst>
        </p14:section>
        <p14:section name="PPT模板" id="{B28B0068-0914-4158-89DA-4FE7666B222D}">
          <p14:sldIdLst>
            <p14:sldId id="1289"/>
            <p14:sldId id="279"/>
            <p14:sldId id="1261"/>
            <p14:sldId id="1269"/>
            <p14:sldId id="1310"/>
            <p14:sldId id="1302"/>
            <p14:sldId id="1270"/>
            <p14:sldId id="1283"/>
            <p14:sldId id="1303"/>
            <p14:sldId id="1307"/>
            <p14:sldId id="1304"/>
            <p14:sldId id="1299"/>
            <p14:sldId id="1284"/>
            <p14:sldId id="1273"/>
            <p14:sldId id="1305"/>
            <p14:sldId id="1313"/>
            <p14:sldId id="1285"/>
            <p14:sldId id="1311"/>
            <p14:sldId id="1278"/>
            <p14:sldId id="7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许献" initials="许献" lastIdx="3" clrIdx="0">
    <p:extLst>
      <p:ext uri="{19B8F6BF-5375-455C-9EA6-DF929625EA0E}">
        <p15:presenceInfo xmlns:p15="http://schemas.microsoft.com/office/powerpoint/2012/main" userId="S-1-5-21-2117213469-2251934869-2612174086-8358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5E0B4"/>
    <a:srgbClr val="B5D7EA"/>
    <a:srgbClr val="006FBC"/>
    <a:srgbClr val="0872BB"/>
    <a:srgbClr val="0370BC"/>
    <a:srgbClr val="036CB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8FB837D-C827-4EFA-A057-4D05807E0F7C}" styleName="主题样式 1 - 强调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主题样式 1 - 强调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75DCB02-9BB8-47FD-8907-85C794F793BA}" styleName="主题样式 1 - 强调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9C7853C-536D-4A76-A0AE-DD22124D55A5}" styleName="主题样式 1 - 强调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823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558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2" d="100"/>
          <a:sy n="52" d="100"/>
        </p:scale>
        <p:origin x="2850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commentAuthors" Target="commentAuthors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5C5197-ECBB-403F-9EFB-03E65B877D8B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FD6771-5137-440B-B187-15B6E0B61E9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4646759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F0A2CE-069F-4978-8B45-9ECF87DB3C74}" type="datetimeFigureOut">
              <a:rPr lang="zh-CN" altLang="en-US" smtClean="0"/>
              <a:pPr/>
              <a:t>2023/12/11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6A64FF-8A47-468E-831B-35E91FA24E58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909887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5C1671-9AF5-415E-8242-974D8BCE4C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32BBBC2-CE8C-4A67-831F-175C19462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69" y="1702800"/>
            <a:ext cx="10515600" cy="4351338"/>
          </a:xfrm>
        </p:spPr>
        <p:txBody>
          <a:bodyPr/>
          <a:lstStyle>
            <a:lvl1pPr>
              <a:defRPr sz="2000"/>
            </a:lvl1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4285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4">
            <a:extLst>
              <a:ext uri="{FF2B5EF4-FFF2-40B4-BE49-F238E27FC236}">
                <a16:creationId xmlns:a16="http://schemas.microsoft.com/office/drawing/2014/main" id="{BFDB20EE-3E71-4498-B6C9-161453B17A9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26017"/>
            <a:ext cx="2743200" cy="365125"/>
          </a:xfrm>
        </p:spPr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9" name="页脚占位符 5">
            <a:extLst>
              <a:ext uri="{FF2B5EF4-FFF2-40B4-BE49-F238E27FC236}">
                <a16:creationId xmlns:a16="http://schemas.microsoft.com/office/drawing/2014/main" id="{9BFA9AEC-55A7-4964-AAA4-BD2259BFD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26017"/>
            <a:ext cx="4114800" cy="365125"/>
          </a:xfrm>
        </p:spPr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10" name="灯片编号占位符 6">
            <a:extLst>
              <a:ext uri="{FF2B5EF4-FFF2-40B4-BE49-F238E27FC236}">
                <a16:creationId xmlns:a16="http://schemas.microsoft.com/office/drawing/2014/main" id="{F59324FD-F969-4201-A8AD-F0F845DFEC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26017"/>
            <a:ext cx="2743200" cy="365125"/>
          </a:xfrm>
        </p:spPr>
        <p:txBody>
          <a:bodyPr/>
          <a:lstStyle/>
          <a:p>
            <a:fld id="{17381B6A-6749-4FB9-B638-38F352D4E91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6" name="标题 1">
            <a:extLst>
              <a:ext uri="{FF2B5EF4-FFF2-40B4-BE49-F238E27FC236}">
                <a16:creationId xmlns:a16="http://schemas.microsoft.com/office/drawing/2014/main" id="{1EE24255-A3A5-47F4-846C-5499623FE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69" y="0"/>
            <a:ext cx="10515600" cy="1325563"/>
          </a:xfrm>
        </p:spPr>
        <p:txBody>
          <a:bodyPr/>
          <a:lstStyle>
            <a:lvl1pPr>
              <a:defRPr sz="3600"/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CD49B4-D848-4621-8AF1-F9F6A3E4FDE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6100" y="1702800"/>
            <a:ext cx="10699750" cy="375285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</p:spTree>
    <p:extLst>
      <p:ext uri="{BB962C8B-B14F-4D97-AF65-F5344CB8AC3E}">
        <p14:creationId xmlns:p14="http://schemas.microsoft.com/office/powerpoint/2010/main" val="20840889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FB60911-AA59-44BD-9277-9C3F84E8E9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48547"/>
            <a:ext cx="12302836" cy="6864982"/>
          </a:xfrm>
          <a:prstGeom prst="rect">
            <a:avLst/>
          </a:prstGeom>
        </p:spPr>
      </p:pic>
      <p:sp>
        <p:nvSpPr>
          <p:cNvPr id="6" name="日期占位符 3">
            <a:extLst>
              <a:ext uri="{FF2B5EF4-FFF2-40B4-BE49-F238E27FC236}">
                <a16:creationId xmlns:a16="http://schemas.microsoft.com/office/drawing/2014/main" id="{90CCD418-B122-4AB9-ABFF-1C15E451F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zh-CN" altLang="en-US"/>
              <a:t>智享生物</a:t>
            </a:r>
            <a:endParaRPr kumimoji="1" lang="zh-CN" altLang="en-US" dirty="0">
              <a:latin typeface="+mn-ea"/>
            </a:endParaRP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CF224DDB-42D6-4559-8552-88DC5DB68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Confidential</a:t>
            </a:r>
            <a:r>
              <a:rPr kumimoji="1" lang="en-US" altLang="zh-CN" dirty="0"/>
              <a:t> </a:t>
            </a:r>
            <a:r>
              <a:rPr kumimoji="1" lang="zh-CN" altLang="en-US" dirty="0"/>
              <a:t>保密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0765F79C-EB70-4952-8329-F49669004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5518" y="6356349"/>
            <a:ext cx="2743200" cy="365125"/>
          </a:xfrm>
          <a:prstGeom prst="rect">
            <a:avLst/>
          </a:prstGeom>
        </p:spPr>
        <p:txBody>
          <a:bodyPr vert="horz" lIns="91440" tIns="45720" rIns="21600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86B9B-05A4-5149-89CC-6D8055B59B09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3F27D119-3368-45EB-AB36-A40EF73070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905" y="41565"/>
            <a:ext cx="1519052" cy="792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332387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C:\Users\Marketing\Desktop\微信图片_20220705142051.png微信图片_2022070514205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770" y="160020"/>
            <a:ext cx="1113155" cy="8032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210310" y="1570990"/>
            <a:ext cx="6422942" cy="736600"/>
          </a:xfrm>
        </p:spPr>
        <p:txBody>
          <a:bodyPr/>
          <a:lstStyle>
            <a:lvl1pPr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7" name="图片 26" descr="微信图片_20220728154247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254500"/>
            <a:ext cx="12202160" cy="2624455"/>
          </a:xfrm>
          <a:prstGeom prst="rect">
            <a:avLst/>
          </a:prstGeom>
        </p:spPr>
      </p:pic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C9A2861-5BC7-4BCC-B9C7-EEFF2A933D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EBB4AFC-4115-4267-A34A-10F249225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6E68C86-2C10-4A61-9A3C-2AEEE9545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754384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6FB60911-AA59-44BD-9277-9C3F84E8E9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6982"/>
            <a:ext cx="12302836" cy="6864982"/>
          </a:xfrm>
          <a:prstGeom prst="rect">
            <a:avLst/>
          </a:prstGeom>
        </p:spPr>
      </p:pic>
      <p:sp>
        <p:nvSpPr>
          <p:cNvPr id="6" name="日期占位符 3">
            <a:extLst>
              <a:ext uri="{FF2B5EF4-FFF2-40B4-BE49-F238E27FC236}">
                <a16:creationId xmlns:a16="http://schemas.microsoft.com/office/drawing/2014/main" id="{90CCD418-B122-4AB9-ABFF-1C15E451FCB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zh-CN" altLang="en-US"/>
              <a:t>智享生物</a:t>
            </a:r>
            <a:endParaRPr kumimoji="1"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页脚占位符 4">
            <a:extLst>
              <a:ext uri="{FF2B5EF4-FFF2-40B4-BE49-F238E27FC236}">
                <a16:creationId xmlns:a16="http://schemas.microsoft.com/office/drawing/2014/main" id="{CF224DDB-42D6-4559-8552-88DC5DB68C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Confidential</a:t>
            </a:r>
            <a:r>
              <a:rPr kumimoji="1" lang="en-US" altLang="zh-CN" dirty="0"/>
              <a:t> </a:t>
            </a:r>
            <a:r>
              <a:rPr kumimoji="1" lang="zh-CN" altLang="en-US" dirty="0"/>
              <a:t>保密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0765F79C-EB70-4952-8329-F496690049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14400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86B9B-05A4-5149-89CC-6D8055B59B09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27198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" descr="C:\Users\Marketing\Desktop\微信图片_20220705142051.png微信图片_20220705142051"/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18770" y="160020"/>
            <a:ext cx="1113155" cy="803275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chemeClr val="bg2">
                <a:alpha val="40000"/>
              </a:schemeClr>
            </a:outerShdw>
          </a:effectLst>
        </p:spPr>
      </p:pic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2718599" y="2466537"/>
            <a:ext cx="6422942" cy="736600"/>
          </a:xfrm>
        </p:spPr>
        <p:txBody>
          <a:bodyPr lIns="720000"/>
          <a:lstStyle>
            <a:lvl1pPr algn="l"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pic>
        <p:nvPicPr>
          <p:cNvPr id="27" name="图片 26" descr="微信图片_20220728154247副本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4254500"/>
            <a:ext cx="12202160" cy="2624455"/>
          </a:xfrm>
          <a:prstGeom prst="rect">
            <a:avLst/>
          </a:prstGeom>
        </p:spPr>
      </p:pic>
      <p:sp>
        <p:nvSpPr>
          <p:cNvPr id="5" name="日期占位符 3">
            <a:extLst>
              <a:ext uri="{FF2B5EF4-FFF2-40B4-BE49-F238E27FC236}">
                <a16:creationId xmlns:a16="http://schemas.microsoft.com/office/drawing/2014/main" id="{55B4D612-11F6-47BE-B5A9-91C59DF8B8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zh-CN" altLang="en-US" dirty="0"/>
              <a:t>智享生物</a:t>
            </a:r>
          </a:p>
        </p:txBody>
      </p:sp>
      <p:sp>
        <p:nvSpPr>
          <p:cNvPr id="6" name="页脚占位符 4">
            <a:extLst>
              <a:ext uri="{FF2B5EF4-FFF2-40B4-BE49-F238E27FC236}">
                <a16:creationId xmlns:a16="http://schemas.microsoft.com/office/drawing/2014/main" id="{A6A996C5-A87A-4F9C-AE0E-B3B7ECE1DC7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 dirty="0"/>
              <a:t>Confidential </a:t>
            </a:r>
            <a:r>
              <a:rPr kumimoji="1" lang="zh-CN" altLang="en-US"/>
              <a:t>保密</a:t>
            </a:r>
          </a:p>
        </p:txBody>
      </p:sp>
      <p:sp>
        <p:nvSpPr>
          <p:cNvPr id="8" name="灯片编号占位符 5">
            <a:extLst>
              <a:ext uri="{FF2B5EF4-FFF2-40B4-BE49-F238E27FC236}">
                <a16:creationId xmlns:a16="http://schemas.microsoft.com/office/drawing/2014/main" id="{5D47DB22-4848-49DC-9204-7AFF6B5B704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86B9B-05A4-5149-89CC-6D8055B59B09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161317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智享PPT模版-23">
            <a:extLst>
              <a:ext uri="{FF2B5EF4-FFF2-40B4-BE49-F238E27FC236}">
                <a16:creationId xmlns:a16="http://schemas.microsoft.com/office/drawing/2014/main" id="{0ED9F5FC-791B-49B9-9669-F71BE467918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9460" cy="6858000"/>
          </a:xfrm>
          <a:prstGeom prst="rect">
            <a:avLst/>
          </a:prstGeom>
        </p:spPr>
      </p:pic>
      <p:sp>
        <p:nvSpPr>
          <p:cNvPr id="7" name="标题 6">
            <a:extLst>
              <a:ext uri="{FF2B5EF4-FFF2-40B4-BE49-F238E27FC236}">
                <a16:creationId xmlns:a16="http://schemas.microsoft.com/office/drawing/2014/main" id="{7E461AFC-D8B2-4A01-81CE-0D95B099EC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3259" y="2441575"/>
            <a:ext cx="6422942" cy="736600"/>
          </a:xfrm>
        </p:spPr>
        <p:txBody>
          <a:bodyPr lIns="720000"/>
          <a:lstStyle>
            <a:lvl1pPr algn="l">
              <a:defRPr sz="3600" b="1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日期占位符 3">
            <a:extLst>
              <a:ext uri="{FF2B5EF4-FFF2-40B4-BE49-F238E27FC236}">
                <a16:creationId xmlns:a16="http://schemas.microsoft.com/office/drawing/2014/main" id="{4F2DC5EF-0052-419E-96C3-3C72DB6ECF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00877" y="634701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zh-CN" altLang="en-US" dirty="0"/>
              <a:t>智享生物</a:t>
            </a:r>
          </a:p>
        </p:txBody>
      </p:sp>
      <p:sp>
        <p:nvSpPr>
          <p:cNvPr id="9" name="页脚占位符 4">
            <a:extLst>
              <a:ext uri="{FF2B5EF4-FFF2-40B4-BE49-F238E27FC236}">
                <a16:creationId xmlns:a16="http://schemas.microsoft.com/office/drawing/2014/main" id="{9A260B54-1770-48AC-9ACA-2E0FF7763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01277" y="6347019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kumimoji="1" lang="en-US" altLang="zh-CN" dirty="0"/>
              <a:t>Confidential </a:t>
            </a:r>
            <a:r>
              <a:rPr kumimoji="1" lang="zh-CN" altLang="en-US" dirty="0"/>
              <a:t>保密</a:t>
            </a:r>
          </a:p>
        </p:txBody>
      </p:sp>
      <p:sp>
        <p:nvSpPr>
          <p:cNvPr id="10" name="灯片编号占位符 5">
            <a:extLst>
              <a:ext uri="{FF2B5EF4-FFF2-40B4-BE49-F238E27FC236}">
                <a16:creationId xmlns:a16="http://schemas.microsoft.com/office/drawing/2014/main" id="{5BE5629D-5C99-4FA4-B0C3-208F16566D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73277" y="634701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86B9B-05A4-5149-89CC-6D8055B59B09}" type="slidenum">
              <a:rPr kumimoji="1" lang="zh-CN" altLang="en-US" smtClean="0"/>
              <a:t>‹#›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96347924"/>
      </p:ext>
    </p:extLst>
  </p:cSld>
  <p:clrMapOvr>
    <a:masterClrMapping/>
  </p:clrMapOvr>
  <p:hf hd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9" cstate="print"/>
          <a:stretch>
            <a:fillRect/>
          </a:stretch>
        </p:blipFill>
        <p:spPr>
          <a:xfrm>
            <a:off x="9749307" y="20162"/>
            <a:ext cx="2215981" cy="936405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8D0F80F-7A70-4D04-8429-DCF91BC0C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5969" y="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C80445-9FBC-4AE0-AB67-4839D97FDA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5969" y="1702140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061B400-5160-4A0A-A9AC-BCB9009244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29568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92C2673-1057-48F1-A4ED-5421F18EEB5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925478" y="6326017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CC0EE1-02BB-4000-8403-E9775030F0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4356" y="632601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381B6A-6749-4FB9-B638-38F352D4E912}" type="slidenum">
              <a:rPr lang="zh-CN" altLang="en-US" smtClean="0"/>
              <a:pPr/>
              <a:t>‹#›</a:t>
            </a:fld>
            <a:endParaRPr lang="zh-CN" altLang="en-US" dirty="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70EE4580-273E-49C4-A16C-5B8010F7A5BF}"/>
              </a:ext>
            </a:extLst>
          </p:cNvPr>
          <p:cNvSpPr/>
          <p:nvPr userDrawn="1"/>
        </p:nvSpPr>
        <p:spPr>
          <a:xfrm flipV="1">
            <a:off x="0" y="1015198"/>
            <a:ext cx="12190413" cy="45719"/>
          </a:xfrm>
          <a:prstGeom prst="rect">
            <a:avLst/>
          </a:prstGeom>
          <a:solidFill>
            <a:srgbClr val="0370B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2311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6" r:id="rId2"/>
    <p:sldLayoutId id="2147483683" r:id="rId3"/>
    <p:sldLayoutId id="2147483661" r:id="rId4"/>
    <p:sldLayoutId id="2147483671" r:id="rId5"/>
    <p:sldLayoutId id="2147483682" r:id="rId6"/>
    <p:sldLayoutId id="2147483692" r:id="rId7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22375" y="3449320"/>
            <a:ext cx="2455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Montserrat" panose="00000500000000000000" charset="0"/>
              </a:rPr>
              <a:t>2023.12.11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Montserrat" panose="00000500000000000000" charset="0"/>
            </a:endParaRPr>
          </a:p>
        </p:txBody>
      </p:sp>
      <p:sp>
        <p:nvSpPr>
          <p:cNvPr id="12" name="ï$ļiḓè"/>
          <p:cNvSpPr>
            <a:spLocks noGrp="1"/>
          </p:cNvSpPr>
          <p:nvPr/>
        </p:nvSpPr>
        <p:spPr>
          <a:xfrm>
            <a:off x="1181735" y="2262094"/>
            <a:ext cx="6430010" cy="6463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tx1"/>
                </a:solidFill>
                <a:latin typeface="Poppins Black" panose="00000A00000000000000" charset="0"/>
                <a:ea typeface="+mj-ea"/>
                <a:cs typeface="Poppins Black" panose="00000A00000000000000" charset="0"/>
              </a:defRPr>
            </a:lvl1pPr>
          </a:lstStyle>
          <a:p>
            <a:pPr algn="l"/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项目会</a:t>
            </a:r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PPT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模板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7" name="ïslïḍè"/>
          <p:cNvSpPr>
            <a:spLocks noGrp="1"/>
          </p:cNvSpPr>
          <p:nvPr/>
        </p:nvSpPr>
        <p:spPr>
          <a:xfrm>
            <a:off x="1181735" y="4403725"/>
            <a:ext cx="2561590" cy="3466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900"/>
              </a:gs>
              <a:gs pos="73000">
                <a:srgbClr val="00A0E9"/>
              </a:gs>
            </a:gsLst>
          </a:gradFill>
          <a:effectLst>
            <a:outerShdw blurRad="50800" dist="38100" dir="2700000" algn="tl" rotWithShape="0">
              <a:srgbClr val="5D6970">
                <a:alpha val="40000"/>
              </a:srgbClr>
            </a:outerShdw>
          </a:effectLst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000" kern="1200">
                <a:solidFill>
                  <a:schemeClr val="tx1">
                    <a:alpha val="72000"/>
                  </a:schemeClr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bg1">
                    <a:alpha val="72000"/>
                  </a:schemeClr>
                </a:solidFill>
              </a:rPr>
              <a:t>Reported By Intellectivebio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87679BB3-B7CF-4E51-B754-98277D6B4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9FA7BFB-8B36-445D-A161-30E11686E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216ADE6-A4D6-40EF-8AB4-37903C315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58061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B9199D-5B17-4E3F-BAC8-717E6118F8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前言</a:t>
            </a:r>
            <a:r>
              <a:rPr lang="en-US" altLang="zh-CN" dirty="0"/>
              <a:t>-</a:t>
            </a:r>
            <a:r>
              <a:rPr lang="zh-CN" altLang="en-US" dirty="0"/>
              <a:t>汇报要求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FFB074-B325-44B5-8997-B34DF4DAC9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5969" y="1619789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370BC"/>
                </a:solidFill>
              </a:rPr>
              <a:t>充分准备</a:t>
            </a:r>
            <a:r>
              <a:rPr lang="zh-CN" altLang="en-US" dirty="0"/>
              <a:t>：</a:t>
            </a:r>
            <a:r>
              <a:rPr lang="en-US" altLang="zh-CN" sz="1700" dirty="0"/>
              <a:t>FL</a:t>
            </a:r>
            <a:r>
              <a:rPr lang="zh-CN" altLang="en-US" sz="1700" dirty="0"/>
              <a:t>提前梳理汇报内容，做好项目数据总结，识别异常数据和风险。</a:t>
            </a:r>
            <a:r>
              <a:rPr lang="zh-CN" altLang="en-US" sz="1700" b="1" dirty="0">
                <a:latin typeface="+mn-ea"/>
              </a:rPr>
              <a:t>异常数据汇报一定要有</a:t>
            </a:r>
            <a:r>
              <a:rPr lang="en-US" altLang="zh-CN" sz="1700" b="1" dirty="0">
                <a:latin typeface="+mn-ea"/>
              </a:rPr>
              <a:t>troubleshooting</a:t>
            </a:r>
            <a:r>
              <a:rPr lang="zh-CN" altLang="en-US" sz="1700" b="1" dirty="0">
                <a:latin typeface="+mn-ea"/>
              </a:rPr>
              <a:t>方案。对于不确定如何汇报的数据或者问题，提前和部门及</a:t>
            </a:r>
            <a:r>
              <a:rPr lang="en-US" altLang="zh-CN" sz="1700" b="1" dirty="0">
                <a:latin typeface="+mn-ea"/>
              </a:rPr>
              <a:t>PL</a:t>
            </a:r>
            <a:r>
              <a:rPr lang="zh-CN" altLang="en-US" sz="1700" b="1" dirty="0">
                <a:latin typeface="+mn-ea"/>
              </a:rPr>
              <a:t>进行沟通讨论，商讨汇报策略。</a:t>
            </a:r>
            <a:endParaRPr lang="en-US" altLang="zh-CN" sz="1700" b="1" dirty="0">
              <a:latin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370BC"/>
                </a:solidFill>
                <a:latin typeface="+mn-ea"/>
              </a:rPr>
              <a:t>统一形式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sz="1700" dirty="0">
                <a:latin typeface="+mn-ea"/>
              </a:rPr>
              <a:t>统一使用项目汇报</a:t>
            </a:r>
            <a:r>
              <a:rPr lang="en-US" altLang="zh-CN" sz="1700" dirty="0">
                <a:latin typeface="+mn-ea"/>
              </a:rPr>
              <a:t>PPT</a:t>
            </a:r>
            <a:r>
              <a:rPr lang="zh-CN" altLang="en-US" sz="1700" dirty="0">
                <a:latin typeface="+mn-ea"/>
              </a:rPr>
              <a:t>最新模板，字体统一</a:t>
            </a:r>
            <a:r>
              <a:rPr lang="zh-CN" altLang="en-US" sz="1700" dirty="0">
                <a:solidFill>
                  <a:srgbClr val="FF0000"/>
                </a:solidFill>
                <a:latin typeface="+mn-ea"/>
              </a:rPr>
              <a:t>微软雅黑</a:t>
            </a:r>
            <a:r>
              <a:rPr lang="zh-CN" altLang="en-US" sz="1700" dirty="0">
                <a:latin typeface="+mn-ea"/>
              </a:rPr>
              <a:t>。</a:t>
            </a:r>
            <a:endParaRPr lang="en-US" altLang="zh-CN" sz="1700" dirty="0">
              <a:latin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370BC"/>
                </a:solidFill>
                <a:latin typeface="+mn-ea"/>
              </a:rPr>
              <a:t>准时参会</a:t>
            </a:r>
            <a:r>
              <a:rPr lang="zh-CN" altLang="en-US" dirty="0">
                <a:latin typeface="+mn-ea"/>
              </a:rPr>
              <a:t>：</a:t>
            </a:r>
            <a:r>
              <a:rPr lang="zh-CN" altLang="en-US" sz="1700" dirty="0">
                <a:latin typeface="+mn-ea"/>
              </a:rPr>
              <a:t>如遇特殊情况，无法参会，需提前沟通、确保有人承接汇报工作，避免无故缺席或会议上找不到汇报人。</a:t>
            </a:r>
            <a:endParaRPr lang="en-US" altLang="zh-CN" sz="1700" dirty="0">
              <a:latin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370BC"/>
                </a:solidFill>
                <a:latin typeface="+mn-ea"/>
              </a:rPr>
              <a:t>及时交付</a:t>
            </a:r>
            <a:r>
              <a:rPr lang="zh-CN" altLang="en-US" dirty="0">
                <a:latin typeface="+mn-ea"/>
              </a:rPr>
              <a:t>：</a:t>
            </a:r>
            <a:r>
              <a:rPr lang="en-US" altLang="zh-CN" sz="1700" dirty="0">
                <a:latin typeface="+mn-ea"/>
              </a:rPr>
              <a:t>FL</a:t>
            </a:r>
            <a:r>
              <a:rPr lang="zh-CN" altLang="en-US" sz="1700" dirty="0">
                <a:latin typeface="+mn-ea"/>
              </a:rPr>
              <a:t>在汇报的</a:t>
            </a:r>
            <a:r>
              <a:rPr lang="zh-CN" altLang="en-US" sz="1700" dirty="0">
                <a:solidFill>
                  <a:srgbClr val="FF0000"/>
                </a:solidFill>
                <a:latin typeface="+mn-ea"/>
              </a:rPr>
              <a:t>前一天</a:t>
            </a:r>
            <a:r>
              <a:rPr lang="en-US" altLang="zh-CN" sz="1700" dirty="0">
                <a:solidFill>
                  <a:srgbClr val="FF0000"/>
                </a:solidFill>
                <a:latin typeface="+mn-ea"/>
              </a:rPr>
              <a:t>12:00</a:t>
            </a:r>
            <a:r>
              <a:rPr lang="zh-CN" altLang="en-US" sz="1700" dirty="0">
                <a:solidFill>
                  <a:srgbClr val="FF0000"/>
                </a:solidFill>
                <a:latin typeface="+mn-ea"/>
              </a:rPr>
              <a:t>点之前</a:t>
            </a:r>
            <a:r>
              <a:rPr lang="zh-CN" altLang="en-US" sz="1700" dirty="0">
                <a:latin typeface="+mn-ea"/>
              </a:rPr>
              <a:t>完成</a:t>
            </a:r>
            <a:r>
              <a:rPr lang="en-US" altLang="zh-CN" sz="1700" dirty="0">
                <a:latin typeface="+mn-ea"/>
              </a:rPr>
              <a:t>PPT</a:t>
            </a:r>
            <a:r>
              <a:rPr lang="zh-CN" altLang="en-US" sz="1700" dirty="0">
                <a:latin typeface="+mn-ea"/>
              </a:rPr>
              <a:t>制作并交付</a:t>
            </a:r>
            <a:r>
              <a:rPr lang="en-US" altLang="zh-CN" sz="1700" dirty="0">
                <a:latin typeface="+mn-ea"/>
              </a:rPr>
              <a:t>PM</a:t>
            </a:r>
            <a:r>
              <a:rPr lang="zh-CN" altLang="en-US" sz="1700" dirty="0">
                <a:latin typeface="+mn-ea"/>
              </a:rPr>
              <a:t>进行</a:t>
            </a:r>
            <a:r>
              <a:rPr lang="en-US" altLang="zh-CN" sz="1700" dirty="0">
                <a:latin typeface="+mn-ea"/>
              </a:rPr>
              <a:t>PPT</a:t>
            </a:r>
            <a:r>
              <a:rPr lang="zh-CN" altLang="en-US" sz="1700" dirty="0">
                <a:latin typeface="+mn-ea"/>
              </a:rPr>
              <a:t>汇总（如周三项目会周二</a:t>
            </a:r>
            <a:r>
              <a:rPr lang="en-US" altLang="zh-CN" sz="1700" dirty="0">
                <a:latin typeface="+mn-ea"/>
              </a:rPr>
              <a:t>12:00</a:t>
            </a:r>
            <a:r>
              <a:rPr lang="zh-CN" altLang="en-US" sz="1700" dirty="0">
                <a:latin typeface="+mn-ea"/>
              </a:rPr>
              <a:t>前汇报截止周一的数据，如有最新数据补充请在会前通知</a:t>
            </a:r>
            <a:r>
              <a:rPr lang="en-US" altLang="zh-CN" sz="1700" dirty="0">
                <a:latin typeface="+mn-ea"/>
              </a:rPr>
              <a:t>PM</a:t>
            </a:r>
            <a:r>
              <a:rPr lang="zh-CN" altLang="en-US" sz="1700" dirty="0">
                <a:latin typeface="+mn-ea"/>
              </a:rPr>
              <a:t>，随会议纪要同步更新客户）。</a:t>
            </a:r>
            <a:endParaRPr lang="en-US" altLang="zh-CN" sz="1700" dirty="0">
              <a:solidFill>
                <a:srgbClr val="FF0000"/>
              </a:solidFill>
              <a:latin typeface="+mn-ea"/>
            </a:endParaRPr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370BC"/>
                </a:solidFill>
              </a:rPr>
              <a:t>专业汇报</a:t>
            </a:r>
            <a:r>
              <a:rPr lang="zh-CN" altLang="en-US" dirty="0"/>
              <a:t>：</a:t>
            </a:r>
            <a:r>
              <a:rPr lang="en-US" altLang="zh-CN" sz="1700" dirty="0"/>
              <a:t>FL</a:t>
            </a:r>
            <a:r>
              <a:rPr lang="zh-CN" altLang="en-US" sz="1700" dirty="0"/>
              <a:t>对汇报的数据要仔细审核，确保内容上没有明显的错误。汇报时思路清晰、有理有据、自信专业，对于</a:t>
            </a:r>
            <a:r>
              <a:rPr lang="en-US" altLang="zh-CN" sz="1700" dirty="0"/>
              <a:t>PPT</a:t>
            </a:r>
            <a:r>
              <a:rPr lang="zh-CN" altLang="en-US" sz="1700" dirty="0"/>
              <a:t>中的异常数据或者问题要提前思考、准备解决方案，避免在会上被客户问住，从而影响会议效果和客户体验。</a:t>
            </a:r>
            <a:endParaRPr lang="en-US" altLang="zh-CN" sz="1700" dirty="0"/>
          </a:p>
          <a:p>
            <a:pPr algn="just">
              <a:lnSpc>
                <a:spcPct val="120000"/>
              </a:lnSpc>
              <a:buFont typeface="Wingdings" panose="05000000000000000000" pitchFamily="2" charset="2"/>
              <a:buChar char="u"/>
            </a:pPr>
            <a:r>
              <a:rPr lang="zh-CN" altLang="en-US" sz="2200" dirty="0">
                <a:solidFill>
                  <a:srgbClr val="0370BC"/>
                </a:solidFill>
              </a:rPr>
              <a:t>及时反馈</a:t>
            </a:r>
            <a:r>
              <a:rPr lang="zh-CN" altLang="en-US" dirty="0"/>
              <a:t>：</a:t>
            </a:r>
            <a:r>
              <a:rPr lang="zh-CN" altLang="en-US" sz="1700" dirty="0"/>
              <a:t>对于会议上客户提出的问题或者会议行动项，各版块需及时记录，各版块</a:t>
            </a:r>
            <a:r>
              <a:rPr lang="zh-CN" altLang="en-US" sz="1700" dirty="0">
                <a:solidFill>
                  <a:srgbClr val="FF0000"/>
                </a:solidFill>
              </a:rPr>
              <a:t>在会议结束当天</a:t>
            </a:r>
            <a:r>
              <a:rPr lang="zh-CN" altLang="en-US" sz="1700" dirty="0"/>
              <a:t>及时完成会议纪要内容和行动项信息的确认。会后及时跟进行动项、反馈行动项完成进度。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E5E459D-7EEB-4864-B832-71C2235AC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Confidential </a:t>
            </a: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保密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942477CD-BC93-44D9-B022-C17F383B3C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智享生物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D700EA3-0D6B-4EA6-83D8-5BC1ED7E7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7381B6A-6749-4FB9-B638-38F352D4E912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56305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F908B-CD79-4D86-AE40-C2319A3F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40" y="126460"/>
            <a:ext cx="10515600" cy="1179648"/>
          </a:xfrm>
        </p:spPr>
        <p:txBody>
          <a:bodyPr>
            <a:normAutofit/>
          </a:bodyPr>
          <a:lstStyle/>
          <a:p>
            <a:r>
              <a:rPr lang="zh-CN" altLang="en-US" dirty="0"/>
              <a:t>前言</a:t>
            </a:r>
            <a:r>
              <a:rPr lang="en-US" altLang="zh-CN" dirty="0"/>
              <a:t>-</a:t>
            </a:r>
            <a:r>
              <a:rPr lang="zh-CN" altLang="en-US" dirty="0"/>
              <a:t>汇报要求</a:t>
            </a:r>
            <a:endParaRPr lang="zh-CN" altLang="en-US" sz="3600" dirty="0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1DC4903-B921-46F0-8875-E4843C6D82E6}"/>
              </a:ext>
            </a:extLst>
          </p:cNvPr>
          <p:cNvSpPr txBox="1"/>
          <p:nvPr/>
        </p:nvSpPr>
        <p:spPr>
          <a:xfrm>
            <a:off x="1533524" y="2154115"/>
            <a:ext cx="877809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2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各版块汇报内容包含：</a:t>
            </a:r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近期版块工作进展总结（近期完成、正在进行中、及计划开展等工作）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数据汇报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问题讨论（复杂问题专题讨论）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02DBB7F-A931-4367-BEE7-24B03B2E12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2417E51A-ECCD-4C3B-89B4-51E8D6A61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7C6A310-1868-4AE6-9B48-F917A901AD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397473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222375" y="3449320"/>
            <a:ext cx="24555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b="1" dirty="0">
                <a:latin typeface="微软雅黑" panose="020B0503020204020204" pitchFamily="34" charset="-122"/>
                <a:ea typeface="微软雅黑" panose="020B0503020204020204" pitchFamily="34" charset="-122"/>
                <a:cs typeface="Montserrat" panose="00000500000000000000" charset="0"/>
              </a:rPr>
              <a:t>202X.XX.XX</a:t>
            </a:r>
            <a:endParaRPr lang="zh-CN" altLang="en-US" sz="2000" b="1" dirty="0">
              <a:latin typeface="微软雅黑" panose="020B0503020204020204" pitchFamily="34" charset="-122"/>
              <a:ea typeface="微软雅黑" panose="020B0503020204020204" pitchFamily="34" charset="-122"/>
              <a:cs typeface="Montserrat" panose="00000500000000000000" charset="0"/>
            </a:endParaRPr>
          </a:p>
        </p:txBody>
      </p:sp>
      <p:sp>
        <p:nvSpPr>
          <p:cNvPr id="12" name="ï$ļiḓè"/>
          <p:cNvSpPr>
            <a:spLocks noGrp="1"/>
          </p:cNvSpPr>
          <p:nvPr/>
        </p:nvSpPr>
        <p:spPr>
          <a:xfrm>
            <a:off x="1181735" y="2262094"/>
            <a:ext cx="6430010" cy="646331"/>
          </a:xfrm>
          <a:prstGeom prst="rect">
            <a:avLst/>
          </a:prstGeom>
        </p:spPr>
        <p:txBody>
          <a:bodyPr vert="horz" wrap="square" lIns="91440" tIns="45720" rIns="91440" bIns="45720" rtlCol="0" anchor="b">
            <a:spAutoFit/>
          </a:bodyPr>
          <a:lstStyle>
            <a:lvl1pPr algn="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zh-CN" altLang="en-US" sz="4000" b="1" kern="1200" dirty="0">
                <a:solidFill>
                  <a:schemeClr val="tx1"/>
                </a:solidFill>
                <a:latin typeface="Poppins Black" panose="00000A00000000000000" charset="0"/>
                <a:ea typeface="+mj-ea"/>
                <a:cs typeface="Poppins Black" panose="00000A00000000000000" charset="0"/>
              </a:defRPr>
            </a:lvl1pPr>
          </a:lstStyle>
          <a:p>
            <a:pPr algn="l"/>
            <a:r>
              <a:rPr lang="en-US" altLang="zh-CN" sz="3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IPXXXX 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  <a:cs typeface="思源黑体 CN Regular" panose="020B0500000000000000" pitchFamily="34" charset="-122"/>
                <a:sym typeface="Arial" panose="020B0604020202020204" pitchFamily="34" charset="0"/>
              </a:rPr>
              <a:t>项目进展汇报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  <a:cs typeface="思源黑体 CN Regular" panose="020B0500000000000000" pitchFamily="34" charset="-122"/>
            </a:endParaRPr>
          </a:p>
        </p:txBody>
      </p:sp>
      <p:sp>
        <p:nvSpPr>
          <p:cNvPr id="17" name="ïslïḍè"/>
          <p:cNvSpPr>
            <a:spLocks noGrp="1"/>
          </p:cNvSpPr>
          <p:nvPr/>
        </p:nvSpPr>
        <p:spPr>
          <a:xfrm>
            <a:off x="1181735" y="4403725"/>
            <a:ext cx="2561590" cy="346634"/>
          </a:xfrm>
          <a:prstGeom prst="roundRect">
            <a:avLst>
              <a:gd name="adj" fmla="val 50000"/>
            </a:avLst>
          </a:prstGeom>
          <a:gradFill>
            <a:gsLst>
              <a:gs pos="0">
                <a:srgbClr val="FF6900"/>
              </a:gs>
              <a:gs pos="73000">
                <a:srgbClr val="00A0E9"/>
              </a:gs>
            </a:gsLst>
          </a:gradFill>
          <a:effectLst>
            <a:outerShdw blurRad="50800" dist="38100" dir="2700000" algn="tl" rotWithShape="0">
              <a:srgbClr val="5D6970">
                <a:alpha val="40000"/>
              </a:srgbClr>
            </a:outerShdw>
          </a:effectLst>
        </p:spPr>
        <p:txBody>
          <a:bodyPr vert="horz" wrap="square" lIns="91440" tIns="45720" rIns="91440" bIns="45720" rtlCol="0" anchor="t">
            <a:sp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lang="zh-CN" altLang="en-US" sz="1000" kern="1200">
                <a:solidFill>
                  <a:schemeClr val="tx1">
                    <a:alpha val="72000"/>
                  </a:schemeClr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Montserrat" panose="00000500000000000000" charset="0"/>
                <a:ea typeface="+mn-ea"/>
                <a:cs typeface="Montserrat" panose="00000500000000000000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b="1" dirty="0">
                <a:solidFill>
                  <a:schemeClr val="bg1">
                    <a:alpha val="72000"/>
                  </a:schemeClr>
                </a:solidFill>
              </a:rPr>
              <a:t>Reported By Intellectivebio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9CD79276-A28D-429E-857E-44AFFE08E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FFA9C179-79C6-4B59-8910-F299BFB676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D8E2252-6380-425F-8DD7-0F0D25E5FA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13734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F908B-CD79-4D86-AE40-C2319A3F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0000" y="180000"/>
            <a:ext cx="10548000" cy="1080000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会议日程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1C9CB95A-F247-43BA-B57A-93904B852665}"/>
              </a:ext>
            </a:extLst>
          </p:cNvPr>
          <p:cNvSpPr txBox="1"/>
          <p:nvPr/>
        </p:nvSpPr>
        <p:spPr>
          <a:xfrm>
            <a:off x="545969" y="5155860"/>
            <a:ext cx="806254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+mn-lt"/>
                <a:ea typeface="+mn-ea"/>
              </a:rPr>
              <a:t>备注：</a:t>
            </a:r>
            <a:endParaRPr lang="en-US" altLang="zh-CN" sz="1400" dirty="0">
              <a:latin typeface="+mn-lt"/>
              <a:ea typeface="+mn-ea"/>
            </a:endParaRPr>
          </a:p>
          <a:p>
            <a:r>
              <a:rPr lang="zh-CN" altLang="en-US" sz="1400" dirty="0">
                <a:latin typeface="+mn-ea"/>
              </a:rPr>
              <a:t>一级标题：微软雅黑（中文），字号</a:t>
            </a:r>
            <a:r>
              <a:rPr lang="en-US" altLang="zh-CN" sz="1400" dirty="0">
                <a:latin typeface="+mn-ea"/>
              </a:rPr>
              <a:t>36</a:t>
            </a:r>
            <a:r>
              <a:rPr lang="zh-CN" altLang="en-US" sz="1400" dirty="0">
                <a:latin typeface="+mn-ea"/>
              </a:rPr>
              <a:t>，字体加粗，单倍行距。文本左对齐。</a:t>
            </a:r>
          </a:p>
          <a:p>
            <a:r>
              <a:rPr lang="zh-CN" altLang="en-US" sz="1400" dirty="0">
                <a:latin typeface="+mn-ea"/>
              </a:rPr>
              <a:t>二级标题：微软雅黑（中文），字号</a:t>
            </a:r>
            <a:r>
              <a:rPr lang="en-US" altLang="zh-CN" sz="1400" dirty="0">
                <a:latin typeface="+mn-ea"/>
              </a:rPr>
              <a:t>28</a:t>
            </a:r>
            <a:r>
              <a:rPr lang="zh-CN" altLang="en-US" sz="1400" dirty="0">
                <a:latin typeface="+mn-ea"/>
              </a:rPr>
              <a:t>，字体加粗，单倍行距。文本左对齐。</a:t>
            </a:r>
          </a:p>
          <a:p>
            <a:endParaRPr lang="zh-CN" altLang="en-US" sz="1400" dirty="0">
              <a:latin typeface="+mn-ea"/>
            </a:endParaRP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B6945DF-2ED4-4DF0-8D17-4B7DBEBAA2EA}"/>
              </a:ext>
            </a:extLst>
          </p:cNvPr>
          <p:cNvSpPr txBox="1"/>
          <p:nvPr/>
        </p:nvSpPr>
        <p:spPr>
          <a:xfrm>
            <a:off x="2692990" y="3458834"/>
            <a:ext cx="5347288" cy="4967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工作进展汇报</a:t>
            </a:r>
            <a:endParaRPr lang="en-GB" altLang="zh-CN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Box 15">
            <a:extLst>
              <a:ext uri="{FF2B5EF4-FFF2-40B4-BE49-F238E27FC236}">
                <a16:creationId xmlns:a16="http://schemas.microsoft.com/office/drawing/2014/main" id="{72B76E3A-93AA-4102-B927-9BBFC35093E4}"/>
              </a:ext>
            </a:extLst>
          </p:cNvPr>
          <p:cNvSpPr txBox="1"/>
          <p:nvPr/>
        </p:nvSpPr>
        <p:spPr>
          <a:xfrm>
            <a:off x="2029125" y="3432398"/>
            <a:ext cx="627095" cy="523220"/>
          </a:xfrm>
          <a:prstGeom prst="rect">
            <a:avLst/>
          </a:prstGeom>
          <a:solidFill>
            <a:srgbClr val="006FBC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pPr lvl="0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03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9C44D91-3490-47A1-AA27-FB0B26F75C3C}"/>
              </a:ext>
            </a:extLst>
          </p:cNvPr>
          <p:cNvSpPr txBox="1"/>
          <p:nvPr/>
        </p:nvSpPr>
        <p:spPr>
          <a:xfrm>
            <a:off x="2656220" y="4163656"/>
            <a:ext cx="6464888" cy="4967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en-US" altLang="zh-CN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如有）</a:t>
            </a:r>
            <a:endParaRPr lang="en-GB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TextBox 15">
            <a:extLst>
              <a:ext uri="{FF2B5EF4-FFF2-40B4-BE49-F238E27FC236}">
                <a16:creationId xmlns:a16="http://schemas.microsoft.com/office/drawing/2014/main" id="{18DD7A49-EB0B-4643-8A8B-62410DDE049C}"/>
              </a:ext>
            </a:extLst>
          </p:cNvPr>
          <p:cNvSpPr txBox="1"/>
          <p:nvPr/>
        </p:nvSpPr>
        <p:spPr>
          <a:xfrm>
            <a:off x="2029125" y="4163656"/>
            <a:ext cx="627095" cy="523220"/>
          </a:xfrm>
          <a:prstGeom prst="rect">
            <a:avLst/>
          </a:prstGeom>
          <a:solidFill>
            <a:srgbClr val="006FBC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04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834FB23A-4DC8-4EF8-A85C-D0515E925232}"/>
              </a:ext>
            </a:extLst>
          </p:cNvPr>
          <p:cNvSpPr txBox="1"/>
          <p:nvPr/>
        </p:nvSpPr>
        <p:spPr>
          <a:xfrm>
            <a:off x="2656220" y="1969880"/>
            <a:ext cx="4951048" cy="4967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spcBef>
                <a:spcPts val="0"/>
              </a:spcBef>
              <a:buNone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项目计划</a:t>
            </a:r>
            <a:endParaRPr lang="en-GB" sz="2800" b="1" kern="0" dirty="0">
              <a:highlight>
                <a:srgbClr val="FFFF00"/>
              </a:highligh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4" name="TextBox 15">
            <a:extLst>
              <a:ext uri="{FF2B5EF4-FFF2-40B4-BE49-F238E27FC236}">
                <a16:creationId xmlns:a16="http://schemas.microsoft.com/office/drawing/2014/main" id="{25A97102-8DB4-4628-A4AD-DED980E65AD4}"/>
              </a:ext>
            </a:extLst>
          </p:cNvPr>
          <p:cNvSpPr txBox="1"/>
          <p:nvPr/>
        </p:nvSpPr>
        <p:spPr>
          <a:xfrm>
            <a:off x="2028347" y="1983130"/>
            <a:ext cx="627095" cy="523220"/>
          </a:xfrm>
          <a:prstGeom prst="rect">
            <a:avLst/>
          </a:prstGeom>
          <a:solidFill>
            <a:srgbClr val="006FBC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pPr lvl="0"/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01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FDCBB79-8AAB-4EF6-AAB3-39E7A9DF8C73}"/>
              </a:ext>
            </a:extLst>
          </p:cNvPr>
          <p:cNvSpPr txBox="1"/>
          <p:nvPr/>
        </p:nvSpPr>
        <p:spPr>
          <a:xfrm>
            <a:off x="2656220" y="2701139"/>
            <a:ext cx="4951048" cy="4967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2800" b="1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行动项回顾</a:t>
            </a:r>
            <a:endParaRPr lang="en-GB" sz="2800" b="1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056262-BF88-49BB-915A-FB1EEB203C2C}"/>
              </a:ext>
            </a:extLst>
          </p:cNvPr>
          <p:cNvSpPr txBox="1"/>
          <p:nvPr/>
        </p:nvSpPr>
        <p:spPr>
          <a:xfrm>
            <a:off x="2029125" y="2701139"/>
            <a:ext cx="627095" cy="523220"/>
          </a:xfrm>
          <a:prstGeom prst="rect">
            <a:avLst/>
          </a:prstGeom>
          <a:solidFill>
            <a:srgbClr val="006FBC"/>
          </a:solidFill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8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02</a:t>
            </a: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C7028A4-98F5-4FEE-B199-B2AA73919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D458999-C64B-4181-8219-F93A242605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8F1E5CF-AF7E-47CE-B201-0190F3DE5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531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EF3797A-3FA3-4622-BA34-226886AE677E}"/>
              </a:ext>
            </a:extLst>
          </p:cNvPr>
          <p:cNvSpPr txBox="1"/>
          <p:nvPr/>
        </p:nvSpPr>
        <p:spPr>
          <a:xfrm>
            <a:off x="6686809" y="3311211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06D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>
              <a:defRPr/>
            </a:pPr>
            <a:r>
              <a:rPr lang="zh-CN" altLang="en-US" sz="36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项目计划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C42233-0AAD-417C-AA9F-9F3F10C329B3}"/>
              </a:ext>
            </a:extLst>
          </p:cNvPr>
          <p:cNvSpPr txBox="1"/>
          <p:nvPr/>
        </p:nvSpPr>
        <p:spPr>
          <a:xfrm>
            <a:off x="6686809" y="2726436"/>
            <a:ext cx="184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06D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01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页脚占位符 2">
            <a:extLst>
              <a:ext uri="{FF2B5EF4-FFF2-40B4-BE49-F238E27FC236}">
                <a16:creationId xmlns:a16="http://schemas.microsoft.com/office/drawing/2014/main" id="{70CED9A1-D398-446A-B3B5-1DEC018B2CBB}"/>
              </a:ext>
            </a:extLst>
          </p:cNvPr>
          <p:cNvSpPr txBox="1">
            <a:spLocks/>
          </p:cNvSpPr>
          <p:nvPr/>
        </p:nvSpPr>
        <p:spPr>
          <a:xfrm>
            <a:off x="4150595" y="6360850"/>
            <a:ext cx="38908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7" name="日期占位符 4">
            <a:extLst>
              <a:ext uri="{FF2B5EF4-FFF2-40B4-BE49-F238E27FC236}">
                <a16:creationId xmlns:a16="http://schemas.microsoft.com/office/drawing/2014/main" id="{142E727A-AFEB-46EC-AF30-ED53AA8B92BC}"/>
              </a:ext>
            </a:extLst>
          </p:cNvPr>
          <p:cNvSpPr txBox="1">
            <a:spLocks/>
          </p:cNvSpPr>
          <p:nvPr/>
        </p:nvSpPr>
        <p:spPr>
          <a:xfrm>
            <a:off x="751115" y="63608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智享生物</a:t>
            </a:r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9B5A441D-D664-4B56-88E7-BFCFAE2C32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536739" y="6363347"/>
            <a:ext cx="2743200" cy="365125"/>
          </a:xfrm>
        </p:spPr>
        <p:txBody>
          <a:bodyPr/>
          <a:lstStyle/>
          <a:p>
            <a:fld id="{B7B86B9B-05A4-5149-89CC-6D8055B59B09}" type="slidenum">
              <a:rPr kumimoji="1" lang="zh-CN" altLang="en-US" smtClean="0"/>
              <a:t>6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341014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F908B-CD79-4D86-AE40-C2319A3F0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项目计划</a:t>
            </a:r>
            <a:endParaRPr lang="zh-CN" altLang="en-US" dirty="0">
              <a:highlight>
                <a:srgbClr val="FFFF00"/>
              </a:highlight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CC5F603-09F9-4EE6-BF4E-E0D9A26D8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8CD6234-DE58-4F3D-B890-5310553A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14C1B5B-A07A-4300-9A07-58889E5BE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7</a:t>
            </a:fld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3631D51A-0B0E-4640-B88D-67FC7B1C4B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-1" r="75" b="23122"/>
          <a:stretch/>
        </p:blipFill>
        <p:spPr>
          <a:xfrm>
            <a:off x="673162" y="1053737"/>
            <a:ext cx="8122496" cy="5272280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48141175-80AA-48C2-B2D6-6AC4A2C13D50}"/>
              </a:ext>
            </a:extLst>
          </p:cNvPr>
          <p:cNvSpPr txBox="1"/>
          <p:nvPr/>
        </p:nvSpPr>
        <p:spPr>
          <a:xfrm>
            <a:off x="9091749" y="2228671"/>
            <a:ext cx="26299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+mn-ea"/>
              </a:rPr>
              <a:t>汇报提示：</a:t>
            </a:r>
            <a:endParaRPr lang="en-US" altLang="zh-CN" dirty="0">
              <a:latin typeface="+mn-ea"/>
            </a:endParaRPr>
          </a:p>
          <a:p>
            <a:pPr algn="just"/>
            <a:r>
              <a:rPr lang="zh-CN" altLang="en-US" dirty="0">
                <a:latin typeface="+mn-ea"/>
              </a:rPr>
              <a:t>项目计划如有升版，建议在汇报的时候说明升版内容、升版日期等。</a:t>
            </a:r>
            <a:endParaRPr lang="en-US" altLang="zh-CN" dirty="0">
              <a:latin typeface="+mn-ea"/>
            </a:endParaRPr>
          </a:p>
          <a:p>
            <a:pPr algn="just"/>
            <a:endParaRPr lang="zh-CN" altLang="en-US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733611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206013A-B3B4-46BD-BBBA-C63DE92FED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D77C0C9-72E0-4816-AD78-5E9AEF4A0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0A26FC1-E413-42A8-B168-8F030C0C0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8</a:t>
            </a:fld>
            <a:endParaRPr lang="zh-CN" altLang="en-US" dirty="0"/>
          </a:p>
        </p:txBody>
      </p:sp>
      <p:sp>
        <p:nvSpPr>
          <p:cNvPr id="5" name="标题 4">
            <a:extLst>
              <a:ext uri="{FF2B5EF4-FFF2-40B4-BE49-F238E27FC236}">
                <a16:creationId xmlns:a16="http://schemas.microsoft.com/office/drawing/2014/main" id="{6EFEF257-30AD-4783-A674-D92C6F392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2F549ED-F51F-4D8E-B0A7-6B976F7190B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7985842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EF3797A-3FA3-4622-BA34-226886AE677E}"/>
              </a:ext>
            </a:extLst>
          </p:cNvPr>
          <p:cNvSpPr txBox="1"/>
          <p:nvPr/>
        </p:nvSpPr>
        <p:spPr>
          <a:xfrm>
            <a:off x="6686809" y="3311211"/>
            <a:ext cx="24929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06D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sz="36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行动项回顾</a:t>
            </a:r>
            <a:endParaRPr lang="en-GB" altLang="zh-CN" sz="36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C42233-0AAD-417C-AA9F-9F3F10C329B3}"/>
              </a:ext>
            </a:extLst>
          </p:cNvPr>
          <p:cNvSpPr txBox="1"/>
          <p:nvPr/>
        </p:nvSpPr>
        <p:spPr>
          <a:xfrm>
            <a:off x="6686809" y="2726436"/>
            <a:ext cx="184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06D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02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7FDB584-F9AC-4942-A5E9-7736E05EAFA4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kumimoji="1" lang="zh-CN" altLang="en-US"/>
              <a:t>智享生物</a:t>
            </a:r>
            <a:endParaRPr kumimoji="1"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0668C283-CEBF-48A1-A055-D7523698FFC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 dirty="0"/>
              <a:t>Confidential </a:t>
            </a:r>
            <a:r>
              <a:rPr kumimoji="1" lang="zh-CN" altLang="en-US" dirty="0"/>
              <a:t>保密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26D41D8-B9F0-4352-89F8-480C627E9B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6B9B-05A4-5149-89CC-6D8055B59B09}" type="slidenum">
              <a:rPr kumimoji="1" lang="zh-CN" altLang="en-US" smtClean="0"/>
              <a:t>9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554127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F908B-CD79-4D86-AE40-C2319A3F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40" y="126460"/>
            <a:ext cx="10515600" cy="1179648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cs typeface="Arial" panose="020B0604020202020204" pitchFamily="34" charset="0"/>
              </a:rPr>
              <a:t>行动项回顾</a:t>
            </a:r>
            <a:endParaRPr lang="zh-CN" altLang="en-US" sz="3600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A178BF16-381C-420A-A946-D6D6A898AB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9938837"/>
              </p:ext>
            </p:extLst>
          </p:nvPr>
        </p:nvGraphicFramePr>
        <p:xfrm>
          <a:off x="1339702" y="1634836"/>
          <a:ext cx="8423275" cy="3332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3605">
                  <a:extLst>
                    <a:ext uri="{9D8B030D-6E8A-4147-A177-3AD203B41FA5}">
                      <a16:colId xmlns:a16="http://schemas.microsoft.com/office/drawing/2014/main" val="88730324"/>
                    </a:ext>
                  </a:extLst>
                </a:gridCol>
                <a:gridCol w="3726926">
                  <a:extLst>
                    <a:ext uri="{9D8B030D-6E8A-4147-A177-3AD203B41FA5}">
                      <a16:colId xmlns:a16="http://schemas.microsoft.com/office/drawing/2014/main" val="2003069817"/>
                    </a:ext>
                  </a:extLst>
                </a:gridCol>
                <a:gridCol w="901772">
                  <a:extLst>
                    <a:ext uri="{9D8B030D-6E8A-4147-A177-3AD203B41FA5}">
                      <a16:colId xmlns:a16="http://schemas.microsoft.com/office/drawing/2014/main" val="2904438276"/>
                    </a:ext>
                  </a:extLst>
                </a:gridCol>
                <a:gridCol w="1460486">
                  <a:extLst>
                    <a:ext uri="{9D8B030D-6E8A-4147-A177-3AD203B41FA5}">
                      <a16:colId xmlns:a16="http://schemas.microsoft.com/office/drawing/2014/main" val="2131677704"/>
                    </a:ext>
                  </a:extLst>
                </a:gridCol>
                <a:gridCol w="1460486">
                  <a:extLst>
                    <a:ext uri="{9D8B030D-6E8A-4147-A177-3AD203B41FA5}">
                      <a16:colId xmlns:a16="http://schemas.microsoft.com/office/drawing/2014/main" val="3395505282"/>
                    </a:ext>
                  </a:extLst>
                </a:gridCol>
              </a:tblGrid>
              <a:tr h="199949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行动项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内容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负责人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截止时间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800" dirty="0">
                          <a:latin typeface="+mj-ea"/>
                          <a:ea typeface="+mj-ea"/>
                        </a:rPr>
                        <a:t>完成状态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25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1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8615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2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1149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3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224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4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71352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5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051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6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6262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45856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8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8254806"/>
                  </a:ext>
                </a:extLst>
              </a:tr>
            </a:tbl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154A2C7-7FAC-42AF-A099-15A0F2C6CA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8B2EDB53-3654-4AB7-87EB-381FD3FFE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BCD273B-8294-4089-A5E1-519C59905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580314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D234B5E-1F87-40A7-BA05-C2049AF5F1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2950F34-7E59-4600-BADD-EC1E694555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8C05EC14-CD30-467D-8D00-478D25CD04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130FB58-7527-4364-BFF1-1A8AA070D0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85FF611-F63C-4527-9751-2B958E41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8281028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EF3797A-3FA3-4622-BA34-226886AE677E}"/>
              </a:ext>
            </a:extLst>
          </p:cNvPr>
          <p:cNvSpPr txBox="1"/>
          <p:nvPr/>
        </p:nvSpPr>
        <p:spPr>
          <a:xfrm>
            <a:off x="6686809" y="3311211"/>
            <a:ext cx="29546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06D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sz="3600" kern="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工作进展汇报</a:t>
            </a:r>
            <a:endParaRPr lang="en-GB" altLang="zh-CN" sz="3600" kern="0" dirty="0">
              <a:solidFill>
                <a:srgbClr val="0070C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C42233-0AAD-417C-AA9F-9F3F10C329B3}"/>
              </a:ext>
            </a:extLst>
          </p:cNvPr>
          <p:cNvSpPr txBox="1"/>
          <p:nvPr/>
        </p:nvSpPr>
        <p:spPr>
          <a:xfrm>
            <a:off x="6686809" y="2726436"/>
            <a:ext cx="184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06D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Part</a:t>
            </a:r>
            <a:r>
              <a:rPr kumimoji="0" lang="zh-CN" altLang="en-US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kumimoji="0" lang="en-US" altLang="zh-CN" sz="360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03</a:t>
            </a:r>
            <a:endParaRPr kumimoji="0" lang="zh-CN" altLang="en-US" sz="360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BD4A03-B129-4AC1-8470-9E479D23EE6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kumimoji="1" lang="zh-CN" altLang="en-US"/>
              <a:t>智享生物</a:t>
            </a:r>
            <a:endParaRPr kumimoji="1"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AF23A9-4D23-495F-9DD9-97ADB72E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 dirty="0"/>
              <a:t>Confidential </a:t>
            </a:r>
            <a:r>
              <a:rPr kumimoji="1" lang="zh-CN" altLang="en-US" dirty="0"/>
              <a:t>保密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D93A8-37F2-4AE7-831D-54A8A572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B7B86B9B-05A4-5149-89CC-6D8055B59B09}" type="slidenum">
              <a:rPr kumimoji="1" lang="zh-CN" altLang="en-US" smtClean="0"/>
              <a:t>12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4505679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98FE915-53BB-424D-A5ED-52CD7AAEA1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20864" y="2396868"/>
            <a:ext cx="6422942" cy="736600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dirty="0">
                <a:solidFill>
                  <a:srgbClr val="0070C0"/>
                </a:solidFill>
              </a:rPr>
              <a:t>XXXX-</a:t>
            </a:r>
            <a:r>
              <a:rPr lang="zh-CN" altLang="en-US" dirty="0">
                <a:solidFill>
                  <a:srgbClr val="0070C0"/>
                </a:solidFill>
              </a:rPr>
              <a:t>工作进展汇报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05EA711-2D46-4005-AC30-06982F266680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r>
              <a:rPr kumimoji="1" lang="zh-CN" altLang="en-US" dirty="0"/>
              <a:t>智享生物</a:t>
            </a:r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17CC35B-83AB-4AA3-973F-B6B698AA2C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kumimoji="1" lang="en-US" altLang="zh-CN" dirty="0"/>
              <a:t>Confidential </a:t>
            </a:r>
            <a:r>
              <a:rPr kumimoji="1" lang="zh-CN" altLang="en-US" dirty="0"/>
              <a:t>保密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9078B30-9DCD-4751-AC68-20814CD82D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72206" y="6381569"/>
            <a:ext cx="2743200" cy="365125"/>
          </a:xfrm>
        </p:spPr>
        <p:txBody>
          <a:bodyPr/>
          <a:lstStyle/>
          <a:p>
            <a:fld id="{B7B86B9B-05A4-5149-89CC-6D8055B59B09}" type="slidenum">
              <a:rPr kumimoji="1" lang="zh-CN" altLang="en-US" smtClean="0"/>
              <a:t>13</a:t>
            </a:fld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76598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83E2C-EC22-4A7D-AC8F-61B028F0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工作进展</a:t>
            </a:r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B2EEC8E2-2879-4BFE-B66A-001FC4A1EF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8056519"/>
              </p:ext>
            </p:extLst>
          </p:nvPr>
        </p:nvGraphicFramePr>
        <p:xfrm>
          <a:off x="545969" y="1279996"/>
          <a:ext cx="9992053" cy="3015758"/>
        </p:xfrm>
        <a:graphic>
          <a:graphicData uri="http://schemas.openxmlformats.org/drawingml/2006/table">
            <a:tbl>
              <a:tblPr firstRow="1" bandRow="1"/>
              <a:tblGrid>
                <a:gridCol w="512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0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96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322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675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1139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序号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工作内容</a:t>
                      </a: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时间计划</a:t>
                      </a: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会议重点讨论</a:t>
                      </a: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风险识别及应对策略</a:t>
                      </a: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3981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3981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3981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7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3981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903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43981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5159"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r>
                        <a:rPr lang="en-US" sz="1200" b="0" i="0" u="none" strike="noStrike" kern="1200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altLang="zh-CN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64" marR="68564" marT="34282" marB="342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zh-CN" alt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0" hangingPunct="1"/>
                      <a:endParaRPr lang="en-US" sz="1200" b="0" i="0" u="none" strike="noStrike" kern="1200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00140731"/>
                  </a:ext>
                </a:extLst>
              </a:tr>
              <a:tr h="3251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64" marR="68564" marT="34282" marB="342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719222"/>
                  </a:ext>
                </a:extLst>
              </a:tr>
              <a:tr h="3251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8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en-US" altLang="zh-CN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64" marR="68564" marT="34282" marB="342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15692"/>
                  </a:ext>
                </a:extLst>
              </a:tr>
              <a:tr h="325159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  <a:cs typeface="Arial" panose="020B0604020202020204" pitchFamily="34" charset="0"/>
                        </a:rPr>
                        <a:t>9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64" marR="68564" marT="34282" marB="342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58184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D5EBB081-EC72-4F59-AE0B-F1CB45DA039E}"/>
              </a:ext>
            </a:extLst>
          </p:cNvPr>
          <p:cNvGrpSpPr/>
          <p:nvPr/>
        </p:nvGrpSpPr>
        <p:grpSpPr>
          <a:xfrm>
            <a:off x="1309300" y="4406421"/>
            <a:ext cx="8180222" cy="357061"/>
            <a:chOff x="1679460" y="5837386"/>
            <a:chExt cx="9781706" cy="452637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B6E3679-D91D-4FF0-A1DA-73A18B12AE99}"/>
                </a:ext>
              </a:extLst>
            </p:cNvPr>
            <p:cNvSpPr/>
            <p:nvPr/>
          </p:nvSpPr>
          <p:spPr>
            <a:xfrm>
              <a:off x="5103663" y="5912523"/>
              <a:ext cx="970544" cy="26021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E7E6E6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D66865C-048A-4A7E-80FB-F7B32D9D3ED8}"/>
                </a:ext>
              </a:extLst>
            </p:cNvPr>
            <p:cNvSpPr txBox="1"/>
            <p:nvPr/>
          </p:nvSpPr>
          <p:spPr>
            <a:xfrm>
              <a:off x="6296826" y="5847583"/>
              <a:ext cx="1137173" cy="429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进行中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C79F92D-F67D-4451-BA06-91C7BA5EF6F3}"/>
                </a:ext>
              </a:extLst>
            </p:cNvPr>
            <p:cNvSpPr/>
            <p:nvPr/>
          </p:nvSpPr>
          <p:spPr>
            <a:xfrm>
              <a:off x="8849779" y="5910067"/>
              <a:ext cx="970544" cy="26021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rgbClr val="E7E6E6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7146686-0000-4B01-A4E6-2E058F8955CA}"/>
                </a:ext>
              </a:extLst>
            </p:cNvPr>
            <p:cNvSpPr txBox="1"/>
            <p:nvPr/>
          </p:nvSpPr>
          <p:spPr>
            <a:xfrm>
              <a:off x="10128660" y="5860847"/>
              <a:ext cx="1332506" cy="429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待开展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1A517D2-2037-434A-BFBF-B588802F50CA}"/>
                </a:ext>
              </a:extLst>
            </p:cNvPr>
            <p:cNvSpPr/>
            <p:nvPr/>
          </p:nvSpPr>
          <p:spPr>
            <a:xfrm>
              <a:off x="1679460" y="5891920"/>
              <a:ext cx="970544" cy="2602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rgbClr val="E7E6E6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B63B21E-AC68-40AE-87FF-D61F1B5EB1FD}"/>
                </a:ext>
              </a:extLst>
            </p:cNvPr>
            <p:cNvSpPr txBox="1"/>
            <p:nvPr/>
          </p:nvSpPr>
          <p:spPr>
            <a:xfrm>
              <a:off x="2838186" y="5837386"/>
              <a:ext cx="1137173" cy="429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完成</a:t>
              </a:r>
            </a:p>
          </p:txBody>
        </p:sp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61D74A4-7E41-44BF-AFC6-50E97BC2AE7E}"/>
              </a:ext>
            </a:extLst>
          </p:cNvPr>
          <p:cNvSpPr txBox="1"/>
          <p:nvPr/>
        </p:nvSpPr>
        <p:spPr>
          <a:xfrm>
            <a:off x="451701" y="4837086"/>
            <a:ext cx="11480661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备注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-FL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工作进展汇报说明：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建议至少总结近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周开展的工作和未来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周计划开展的工作，内容包括但不限于实验安排、里程碑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关键交付物准备、本次会议重点讨论的事项、风险识别及应对策略等。重点讨论项一栏为本次会议需要和客户重点沟通和讨论的内容。风险识别栏为项目开展中遇到的问题或者潜在风险，及其对应的解决方案或风险应对策略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正文字体统一微软雅黑，建议字号</a:t>
            </a:r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号，字体大小可根据版面内容进行调整，确保展示的内容清晰且完整。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内容如果比较多，一页展示比较拥挤，可分页展示。</a:t>
            </a:r>
            <a:endParaRPr lang="en-US" altLang="zh-CN" sz="1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/>
            <a:r>
              <a:rPr lang="en-US" altLang="zh-CN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4.</a:t>
            </a:r>
            <a:r>
              <a:rPr lang="zh-CN" altLang="en-US" sz="1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版块工作计划参照以上表格内容展示，可根据实际使用需要增加内容。</a:t>
            </a:r>
            <a:endParaRPr lang="zh-CN" altLang="en-US" sz="2000" dirty="0">
              <a:latin typeface="+mn-lt"/>
              <a:ea typeface="+mn-ea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E2F9637-9516-4A66-AD72-93ED4164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82071F1-233C-4FB0-8B33-AB10E160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 dirty="0"/>
              <a:t>智享生物</a:t>
            </a:r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4DC1732-9717-42A3-A4F2-7065D9BC70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462151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1383E2C-EC22-4A7D-AC8F-61B028F07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案例展示</a:t>
            </a:r>
          </a:p>
        </p:txBody>
      </p:sp>
      <p:sp>
        <p:nvSpPr>
          <p:cNvPr id="5" name="内容占位符 4">
            <a:extLst>
              <a:ext uri="{FF2B5EF4-FFF2-40B4-BE49-F238E27FC236}">
                <a16:creationId xmlns:a16="http://schemas.microsoft.com/office/drawing/2014/main" id="{8A911797-2072-42C1-8C36-34AE74F19A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graphicFrame>
        <p:nvGraphicFramePr>
          <p:cNvPr id="8" name="Table 2">
            <a:extLst>
              <a:ext uri="{FF2B5EF4-FFF2-40B4-BE49-F238E27FC236}">
                <a16:creationId xmlns:a16="http://schemas.microsoft.com/office/drawing/2014/main" id="{B2EEC8E2-2879-4BFE-B66A-001FC4A1EFE3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545969" y="1591684"/>
          <a:ext cx="10581587" cy="3776409"/>
        </p:xfrm>
        <a:graphic>
          <a:graphicData uri="http://schemas.openxmlformats.org/drawingml/2006/table">
            <a:tbl>
              <a:tblPr firstRow="1" bandRow="1"/>
              <a:tblGrid>
                <a:gridCol w="3294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59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55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2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277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012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No.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7pPr>
                      <a:lvl8pPr marL="31997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8pPr>
                      <a:lvl9pPr marL="3656965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Calibri" panose="020F0502020204030204"/>
                        </a:defRPr>
                      </a:lvl9pPr>
                    </a:lstStyle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工作内容</a:t>
                      </a: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 </a:t>
                      </a:r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时间计划</a:t>
                      </a: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会议重点讨论</a:t>
                      </a: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风险识别及应对策略</a:t>
                      </a:r>
                      <a:r>
                        <a:rPr lang="en-US" altLang="zh-CN" sz="1200" b="1" i="0" u="none" strike="noStrike" dirty="0"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zh-CN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6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制剂工艺表征风险评估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2023.06.24 ~ 2023.07.17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FABA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6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制剂处方确认小试研究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2023.07.18 ~ 2023.08.14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0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制剂工艺参数研究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2023.07.18 ~ 2023.08.16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制剂工艺参数确认</a:t>
                      </a:r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027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制剂工艺表征风险再评估</a:t>
                      </a:r>
                      <a:endParaRPr lang="en-US" altLang="zh-CN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2023.08.17</a:t>
                      </a:r>
                      <a:r>
                        <a:rPr lang="zh-CN" altLang="en-US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lang="en-US" altLang="zh-CN" sz="1200" baseline="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~ 2023.08.31</a:t>
                      </a: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表征风险方案 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问题：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algn="l" fontAlgn="ctr"/>
                      <a:r>
                        <a:rPr lang="zh-CN" altLang="en-US" sz="1200" b="0" i="0" u="none" strike="noStrike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解决策略：</a:t>
                      </a: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6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kumimoji="0" lang="en-US" altLang="zh-CN" sz="1200" b="0" i="0" u="none" strike="noStrike" kern="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173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ea typeface="宋体" pitchFamily="2" charset="-122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9668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en-US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5E0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62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过滤器验证</a:t>
                      </a: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r>
                        <a:rPr lang="en-US" altLang="zh-CN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2023.11.29 ~ 2023.12.28</a:t>
                      </a:r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72719222"/>
                  </a:ext>
                </a:extLst>
              </a:tr>
              <a:tr h="3262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一次性组件相容性研究</a:t>
                      </a:r>
                    </a:p>
                  </a:txBody>
                  <a:tcPr marL="68548" marR="68548" marT="34274" marB="34274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b="0" i="0" u="none" strike="noStrike" kern="1200" baseline="0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2023.11.29 ~ 2023.12.12</a:t>
                      </a:r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3215692"/>
                  </a:ext>
                </a:extLst>
              </a:tr>
              <a:tr h="3262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64" marR="68564" marT="34282" marB="342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5758184"/>
                  </a:ext>
                </a:extLst>
              </a:tr>
              <a:tr h="32624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</a:p>
                  </a:txBody>
                  <a:tcPr marL="9524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64" marR="68564" marT="34282" marB="3428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fontAlgn="ctr" latinLnBrk="0" hangingPunct="1"/>
                      <a:endParaRPr lang="zh-CN" altLang="en-US" sz="1200" b="0" i="0" u="none" strike="noStrike" kern="1200" baseline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en-US" altLang="zh-CN" sz="1200" b="0" i="0" u="none" strike="noStrike" kern="1200" baseline="0" noProof="0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107986" marR="9524" marT="952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BE5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90565166"/>
                  </a:ext>
                </a:extLst>
              </a:tr>
            </a:tbl>
          </a:graphicData>
        </a:graphic>
      </p:graphicFrame>
      <p:grpSp>
        <p:nvGrpSpPr>
          <p:cNvPr id="9" name="组合 8">
            <a:extLst>
              <a:ext uri="{FF2B5EF4-FFF2-40B4-BE49-F238E27FC236}">
                <a16:creationId xmlns:a16="http://schemas.microsoft.com/office/drawing/2014/main" id="{D5EBB081-EC72-4F59-AE0B-F1CB45DA039E}"/>
              </a:ext>
            </a:extLst>
          </p:cNvPr>
          <p:cNvGrpSpPr/>
          <p:nvPr/>
        </p:nvGrpSpPr>
        <p:grpSpPr>
          <a:xfrm>
            <a:off x="1713658" y="5567085"/>
            <a:ext cx="8180222" cy="357060"/>
            <a:chOff x="1679460" y="5837387"/>
            <a:chExt cx="9781706" cy="452636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6B6E3679-D91D-4FF0-A1DA-73A18B12AE99}"/>
                </a:ext>
              </a:extLst>
            </p:cNvPr>
            <p:cNvSpPr/>
            <p:nvPr/>
          </p:nvSpPr>
          <p:spPr>
            <a:xfrm>
              <a:off x="5103663" y="5912523"/>
              <a:ext cx="970544" cy="260218"/>
            </a:xfrm>
            <a:prstGeom prst="rect">
              <a:avLst/>
            </a:prstGeom>
            <a:solidFill>
              <a:schemeClr val="accent6">
                <a:lumMod val="40000"/>
                <a:lumOff val="60000"/>
              </a:schemeClr>
            </a:solidFill>
            <a:ln w="12700" cap="flat" cmpd="sng" algn="ctr">
              <a:solidFill>
                <a:srgbClr val="E7E6E6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1" name="文本框 10">
              <a:extLst>
                <a:ext uri="{FF2B5EF4-FFF2-40B4-BE49-F238E27FC236}">
                  <a16:creationId xmlns:a16="http://schemas.microsoft.com/office/drawing/2014/main" id="{9D66865C-048A-4A7E-80FB-F7B32D9D3ED8}"/>
                </a:ext>
              </a:extLst>
            </p:cNvPr>
            <p:cNvSpPr txBox="1"/>
            <p:nvPr/>
          </p:nvSpPr>
          <p:spPr>
            <a:xfrm>
              <a:off x="6296826" y="5847577"/>
              <a:ext cx="1137173" cy="429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进行中</a:t>
              </a: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8C79F92D-F67D-4451-BA06-91C7BA5EF6F3}"/>
                </a:ext>
              </a:extLst>
            </p:cNvPr>
            <p:cNvSpPr/>
            <p:nvPr/>
          </p:nvSpPr>
          <p:spPr>
            <a:xfrm>
              <a:off x="8849779" y="5910067"/>
              <a:ext cx="970544" cy="260218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2700" cap="flat" cmpd="sng" algn="ctr">
              <a:solidFill>
                <a:srgbClr val="E7E6E6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17146686-0000-4B01-A4E6-2E058F8955CA}"/>
                </a:ext>
              </a:extLst>
            </p:cNvPr>
            <p:cNvSpPr txBox="1"/>
            <p:nvPr/>
          </p:nvSpPr>
          <p:spPr>
            <a:xfrm>
              <a:off x="10128660" y="5860847"/>
              <a:ext cx="1332506" cy="429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+mn-ea"/>
                  <a:cs typeface="Arial" panose="020B0604020202020204" pitchFamily="34" charset="0"/>
                </a:rPr>
                <a:t>待开展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81A517D2-2037-434A-BFBF-B588802F50CA}"/>
                </a:ext>
              </a:extLst>
            </p:cNvPr>
            <p:cNvSpPr/>
            <p:nvPr/>
          </p:nvSpPr>
          <p:spPr>
            <a:xfrm>
              <a:off x="1679460" y="5891920"/>
              <a:ext cx="970544" cy="260218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 w="12700" cap="flat" cmpd="sng" algn="ctr">
              <a:solidFill>
                <a:srgbClr val="E7E6E6">
                  <a:lumMod val="75000"/>
                </a:srgbClr>
              </a:solidFill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6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等线" panose="02010600030101010101" pitchFamily="2" charset="-122"/>
                <a:cs typeface="+mn-cs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0B63B21E-AC68-40AE-87FF-D61F1B5EB1FD}"/>
                </a:ext>
              </a:extLst>
            </p:cNvPr>
            <p:cNvSpPr txBox="1"/>
            <p:nvPr/>
          </p:nvSpPr>
          <p:spPr>
            <a:xfrm>
              <a:off x="2838186" y="5837387"/>
              <a:ext cx="1137173" cy="429176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0" marR="0" lvl="0" indent="0" algn="l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CN" altLang="en-US" sz="1600" b="0" i="0" u="none" strike="noStrike" kern="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Arial" panose="020B0604020202020204" pitchFamily="34" charset="0"/>
                </a:rPr>
                <a:t>完成</a:t>
              </a:r>
            </a:p>
          </p:txBody>
        </p:sp>
      </p:grp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0348035-2506-4E0E-AA94-20B145FD2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 dirty="0"/>
              <a:t>保密</a:t>
            </a:r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76FF60E4-C38B-406F-A4CD-83762BF371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48B1C1-4DA0-40C6-A13A-6D857635F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8832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7B438D-E142-4677-A006-00E909A08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0B740D3-B1F9-45F1-B192-3DF26C0E5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3C84963-FC68-4538-BD85-D7C4E8CAD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2CB4672C-676F-4103-99BC-E4A659E20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4E3AA3B-FCA4-401F-AD5A-2ED892243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886764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F908B-CD79-4D86-AE40-C2319A3F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40" y="126460"/>
            <a:ext cx="10515600" cy="1179648"/>
          </a:xfrm>
        </p:spPr>
        <p:txBody>
          <a:bodyPr>
            <a:normAutofit/>
          </a:bodyPr>
          <a:lstStyle/>
          <a:p>
            <a:r>
              <a:rPr lang="zh-CN" altLang="en-US" sz="3600" dirty="0">
                <a:latin typeface="+mj-ea"/>
                <a:ea typeface="+mj-ea"/>
              </a:rPr>
              <a:t>数据汇报</a:t>
            </a:r>
            <a:endParaRPr lang="zh-CN" altLang="en-US" sz="3600" dirty="0">
              <a:latin typeface="+mj-ea"/>
              <a:ea typeface="+mj-ea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DAD6F4-CCC1-4ADC-AD1A-FCC5F78816EF}"/>
              </a:ext>
            </a:extLst>
          </p:cNvPr>
          <p:cNvSpPr/>
          <p:nvPr/>
        </p:nvSpPr>
        <p:spPr>
          <a:xfrm>
            <a:off x="1332226" y="1496344"/>
            <a:ext cx="8333361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备注：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+mn-ea"/>
              </a:rPr>
              <a:t>标题：字体微软雅黑，字号</a:t>
            </a:r>
            <a:r>
              <a:rPr lang="en-US" altLang="zh-CN" dirty="0">
                <a:latin typeface="+mn-ea"/>
              </a:rPr>
              <a:t>36</a:t>
            </a:r>
            <a:r>
              <a:rPr lang="zh-CN" altLang="en-US" dirty="0">
                <a:latin typeface="+mn-ea"/>
              </a:rPr>
              <a:t>，字体加粗，单倍行距。文本左对齐。</a:t>
            </a:r>
            <a:endParaRPr lang="en-US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+mn-ea"/>
              </a:rPr>
              <a:t>文本框内容：字体微软雅黑，字号可根据实际排版调整，保持页面美观整洁。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+mn-ea"/>
              </a:rPr>
              <a:t>图片格式：建议</a:t>
            </a:r>
            <a:r>
              <a:rPr lang="en-US" altLang="zh-CN" dirty="0">
                <a:latin typeface="+mn-ea"/>
              </a:rPr>
              <a:t>JPG</a:t>
            </a:r>
            <a:r>
              <a:rPr lang="zh-CN" altLang="en-US" dirty="0">
                <a:latin typeface="+mn-ea"/>
              </a:rPr>
              <a:t>格式，图表或者原始导出的图谱在展示时需保持</a:t>
            </a:r>
            <a:r>
              <a:rPr lang="zh-CN" altLang="en-US" b="1" dirty="0">
                <a:latin typeface="+mn-ea"/>
              </a:rPr>
              <a:t>图片清晰、完整</a:t>
            </a:r>
            <a:r>
              <a:rPr lang="zh-CN" altLang="en-US" dirty="0">
                <a:latin typeface="+mn-ea"/>
              </a:rPr>
              <a:t>。</a:t>
            </a:r>
            <a:r>
              <a:rPr lang="zh-CN" altLang="en-US" b="1" dirty="0">
                <a:latin typeface="+mn-ea"/>
              </a:rPr>
              <a:t>图片下方或者右侧附有总结性文字描述</a:t>
            </a:r>
            <a:r>
              <a:rPr lang="zh-CN" altLang="en-US" dirty="0">
                <a:latin typeface="+mn-ea"/>
              </a:rPr>
              <a:t>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b="1" dirty="0">
                <a:latin typeface="+mn-ea"/>
              </a:rPr>
              <a:t>异常数据汇报一定要有</a:t>
            </a:r>
            <a:r>
              <a:rPr lang="en-US" altLang="zh-CN" b="1" dirty="0">
                <a:latin typeface="+mn-ea"/>
              </a:rPr>
              <a:t>troubleshooting</a:t>
            </a:r>
            <a:r>
              <a:rPr lang="zh-CN" altLang="en-US" b="1" dirty="0">
                <a:latin typeface="+mn-ea"/>
              </a:rPr>
              <a:t>方案。</a:t>
            </a:r>
            <a:endParaRPr lang="en-US" altLang="zh-CN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endParaRPr lang="en-US" altLang="zh-CN" b="1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+mn-ea"/>
              </a:rPr>
              <a:t>如有需要对展示的数据进行特殊颜色标记、突出显示时，建议可以在</a:t>
            </a:r>
            <a:r>
              <a:rPr lang="en-US" altLang="zh-CN" dirty="0">
                <a:latin typeface="+mn-ea"/>
              </a:rPr>
              <a:t>PPT</a:t>
            </a:r>
            <a:r>
              <a:rPr lang="zh-CN" altLang="en-US" dirty="0">
                <a:latin typeface="+mn-ea"/>
              </a:rPr>
              <a:t>中稍加提示性说明，以减少客户对突出标记的提问。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479264-D125-4679-8DD9-90CB294C4B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E4D3D7-B3B5-44F2-8CC4-D14F826801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40BABD-9217-4CE5-A317-DF0F3DFD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1531972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754416-66E3-42DB-9639-BE9C1D37D7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B3AE10-B2E0-483A-A975-DF3BA631F1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90FBA37-0A66-4320-A8D3-AE3E3E633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41EC25-D137-4DFF-BF39-8C09CE6BA1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2F845FE-4B61-4821-AA30-93133EA856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6717120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22F908B-CD79-4D86-AE40-C2319A3F0C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340" y="126460"/>
            <a:ext cx="10515600" cy="1179648"/>
          </a:xfrm>
        </p:spPr>
        <p:txBody>
          <a:bodyPr>
            <a:normAutofit/>
          </a:bodyPr>
          <a:lstStyle/>
          <a:p>
            <a:r>
              <a:rPr lang="zh-CN" altLang="en-US" sz="3600" dirty="0"/>
              <a:t>问题讨论</a:t>
            </a:r>
            <a:r>
              <a:rPr lang="en-US" altLang="zh-CN" sz="3600" dirty="0"/>
              <a:t>(</a:t>
            </a:r>
            <a:r>
              <a:rPr lang="zh-CN" altLang="en-US" sz="3600" dirty="0"/>
              <a:t>如有</a:t>
            </a:r>
            <a:r>
              <a:rPr lang="en-US" altLang="zh-CN" sz="3600" dirty="0"/>
              <a:t>,</a:t>
            </a:r>
            <a:r>
              <a:rPr lang="zh-CN" altLang="en-US" sz="3600" dirty="0"/>
              <a:t>复杂问题建议专题讨论）</a:t>
            </a:r>
            <a:endParaRPr lang="zh-CN" altLang="en-US" sz="3600" dirty="0"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A6DAD6F4-CCC1-4ADC-AD1A-FCC5F78816EF}"/>
              </a:ext>
            </a:extLst>
          </p:cNvPr>
          <p:cNvSpPr/>
          <p:nvPr/>
        </p:nvSpPr>
        <p:spPr>
          <a:xfrm>
            <a:off x="1586886" y="1723558"/>
            <a:ext cx="833336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/>
              <a:t>备注：</a:t>
            </a:r>
            <a:endParaRPr lang="en-US" altLang="zh-CN" dirty="0"/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+mn-ea"/>
              </a:rPr>
              <a:t>标题：字体微软雅黑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字号</a:t>
            </a:r>
            <a:r>
              <a:rPr lang="en-US" altLang="zh-CN" dirty="0">
                <a:latin typeface="+mn-ea"/>
              </a:rPr>
              <a:t>36</a:t>
            </a:r>
            <a:r>
              <a:rPr lang="zh-CN" altLang="en-US" dirty="0">
                <a:latin typeface="+mn-ea"/>
              </a:rPr>
              <a:t>，字体加粗，单倍行距。文本左对齐。</a:t>
            </a:r>
            <a:endParaRPr lang="en-US" altLang="zh-CN" dirty="0">
              <a:latin typeface="+mn-ea"/>
            </a:endParaRPr>
          </a:p>
          <a:p>
            <a:endParaRPr lang="zh-CN" altLang="en-US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+mn-ea"/>
              </a:rPr>
              <a:t>文本框内容：字体微软雅黑，字号可根据实际排版调整，以美观整洁。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+mn-ea"/>
              </a:rPr>
              <a:t>图片格式：建议</a:t>
            </a:r>
            <a:r>
              <a:rPr lang="en-US" altLang="zh-CN" dirty="0">
                <a:latin typeface="+mn-ea"/>
              </a:rPr>
              <a:t>JPG</a:t>
            </a:r>
            <a:r>
              <a:rPr lang="zh-CN" altLang="en-US" dirty="0">
                <a:latin typeface="+mn-ea"/>
              </a:rPr>
              <a:t>格式，图表或者原始导出的图谱在展示时需保持图片清晰、完整。图片下方或者右侧附有总结性文字描述。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u"/>
            </a:pPr>
            <a:r>
              <a:rPr lang="zh-CN" altLang="en-US" dirty="0">
                <a:latin typeface="+mn-ea"/>
              </a:rPr>
              <a:t>异常问题讨论建议提前准备</a:t>
            </a:r>
            <a:r>
              <a:rPr lang="en-US" altLang="zh-CN" dirty="0">
                <a:latin typeface="+mn-ea"/>
              </a:rPr>
              <a:t>troubleshooting</a:t>
            </a:r>
            <a:r>
              <a:rPr lang="zh-CN" altLang="en-US" dirty="0">
                <a:latin typeface="+mn-ea"/>
              </a:rPr>
              <a:t>方案。</a:t>
            </a:r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  <a:p>
            <a:endParaRPr lang="en-US" altLang="zh-CN" dirty="0">
              <a:latin typeface="+mn-ea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CD0567C-FDD0-472B-90E1-5D626AAD97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1740842-59E1-4B10-BF9F-A04BA9169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91709C3-7E9B-463B-97C8-53DBE57B2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2111126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B1E9E0-BB81-4B8C-82D7-C9C77491B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BD8F225-4B4D-4AA4-9FD6-647BBBDDD1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F41588-EEEA-41AB-899F-BACB6B08FF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C8AA4AD0-3337-478F-B6DA-9101CA900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FAB2255-78BD-4C3F-B18C-7FDB75C64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20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896220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8EF3797A-3FA3-4622-BA34-226886AE677E}"/>
              </a:ext>
            </a:extLst>
          </p:cNvPr>
          <p:cNvSpPr txBox="1"/>
          <p:nvPr/>
        </p:nvSpPr>
        <p:spPr>
          <a:xfrm>
            <a:off x="6686809" y="3311211"/>
            <a:ext cx="267252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06D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 sz="3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</a:t>
            </a:r>
            <a:r>
              <a:rPr lang="en-US" altLang="zh-CN" sz="3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3600" kern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如有）</a:t>
            </a:r>
            <a:endParaRPr lang="en-GB" altLang="zh-CN" sz="3600" kern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92C42233-0AAD-417C-AA9F-9F3F10C329B3}"/>
              </a:ext>
            </a:extLst>
          </p:cNvPr>
          <p:cNvSpPr txBox="1"/>
          <p:nvPr/>
        </p:nvSpPr>
        <p:spPr>
          <a:xfrm>
            <a:off x="6686809" y="2726436"/>
            <a:ext cx="18499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zh-CN"/>
            </a:defPPr>
            <a:lvl1pPr>
              <a:defRPr sz="6000" b="1">
                <a:solidFill>
                  <a:srgbClr val="006DBC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Part</a:t>
            </a:r>
            <a:r>
              <a:rPr kumimoji="0" lang="zh-CN" altLang="en-US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 </a:t>
            </a:r>
            <a:r>
              <a:rPr kumimoji="0" lang="en-US" altLang="zh-CN" sz="3600" b="1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50000"/>
                    <a:lumOff val="50000"/>
                  </a:prstClr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20204" pitchFamily="34" charset="0"/>
              </a:rPr>
              <a:t>04</a:t>
            </a:r>
            <a:endParaRPr kumimoji="0" lang="zh-CN" altLang="en-US" sz="36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50000"/>
                  <a:lumOff val="50000"/>
                </a:prstClr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4BD4A03-B129-4AC1-8470-9E479D23EE66}"/>
              </a:ext>
            </a:extLst>
          </p:cNvPr>
          <p:cNvSpPr>
            <a:spLocks noGrp="1"/>
          </p:cNvSpPr>
          <p:nvPr>
            <p:ph type="dt" sz="half" idx="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智享生物</a:t>
            </a:r>
            <a:endParaRPr kumimoji="1" lang="zh-CN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E5AF23A9-4D23-495F-9DD9-97ADB72E8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Confidential </a:t>
            </a:r>
            <a:r>
              <a:rPr kumimoji="1" lang="zh-CN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t>保密</a:t>
            </a: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D0D93A8-37F2-4AE7-831D-54A8A5720C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7B86B9B-05A4-5149-89CC-6D8055B59B09}" type="slidenum"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微软雅黑"/>
                <a:ea typeface="微软雅黑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微软雅黑"/>
              <a:ea typeface="微软雅黑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851264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C79A8C-E075-4F66-BEBC-CD3D5FD86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2BA5FF-3443-4CDD-B158-EAF6150A59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46E9279-8F66-4CC8-9DC6-D6183A6B5E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A9B73D3-7A14-4436-9F0B-0069F98F35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630774F-9628-43FC-A38D-00150E84C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22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349659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E424FED3-5A5F-D8C5-03BF-25A9CC4417F1}"/>
              </a:ext>
            </a:extLst>
          </p:cNvPr>
          <p:cNvSpPr txBox="1"/>
          <p:nvPr/>
        </p:nvSpPr>
        <p:spPr>
          <a:xfrm>
            <a:off x="3822612" y="2771022"/>
            <a:ext cx="7667424" cy="65797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lvl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/>
            </a:pPr>
            <a:r>
              <a:rPr lang="zh-CN" altLang="en-US" sz="4800" b="1" noProof="0" dirty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ea typeface="+mj-ea"/>
                <a:cs typeface="Arial" panose="020B0604020202020204" pitchFamily="34" charset="0"/>
              </a:rPr>
              <a:t>感谢您的聆听！</a:t>
            </a:r>
            <a:endParaRPr lang="en-US" altLang="zh-CN" sz="4800" b="1" noProof="0" dirty="0">
              <a:ln>
                <a:noFill/>
              </a:ln>
              <a:effectLst/>
              <a:uLnTx/>
              <a:uFillTx/>
              <a:latin typeface="Arial" panose="020B0604020202020204" pitchFamily="34" charset="0"/>
              <a:ea typeface="+mj-ea"/>
              <a:cs typeface="Arial" panose="020B0604020202020204" pitchFamily="34" charset="0"/>
            </a:endParaRP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7A8A93B-2675-45A3-AB90-7811152598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zh-CN" altLang="en-US"/>
              <a:t>智享生物</a:t>
            </a:r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40D8004-A8D3-4E0E-ABC3-066CC5244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CN" dirty="0"/>
              <a:t>Confidential </a:t>
            </a:r>
            <a:r>
              <a:rPr lang="zh-CN" altLang="en-US"/>
              <a:t>保密</a:t>
            </a:r>
            <a:endParaRPr lang="zh-CN" altLang="en-US" dirty="0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4B5265A-8F52-414D-B1F0-2B6E9F0BF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81B6A-6749-4FB9-B638-38F352D4E912}" type="slidenum">
              <a:rPr lang="zh-CN" altLang="en-US" smtClean="0"/>
              <a:pPr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23860176"/>
      </p:ext>
    </p:extLst>
  </p:cSld>
  <p:clrMapOvr>
    <a:masterClrMapping/>
  </p:clrMapOvr>
</p:sld>
</file>

<file path=ppt/theme/theme1.xml><?xml version="1.0" encoding="utf-8"?>
<a:theme xmlns:a="http://schemas.openxmlformats.org/drawingml/2006/main" name="智享项目汇报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 algn="l">
          <a:defRPr sz="2400" dirty="0" smtClean="0"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1947</TotalTime>
  <Words>1113</Words>
  <Application>Microsoft Office PowerPoint</Application>
  <PresentationFormat>宽屏</PresentationFormat>
  <Paragraphs>210</Paragraphs>
  <Slides>23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2" baseType="lpstr">
      <vt:lpstr>Montserrat</vt:lpstr>
      <vt:lpstr>等线</vt:lpstr>
      <vt:lpstr>思源黑体 CN Regular</vt:lpstr>
      <vt:lpstr>宋体</vt:lpstr>
      <vt:lpstr>微软雅黑</vt:lpstr>
      <vt:lpstr>Arial</vt:lpstr>
      <vt:lpstr>Calibri</vt:lpstr>
      <vt:lpstr>Wingdings</vt:lpstr>
      <vt:lpstr>智享项目汇报</vt:lpstr>
      <vt:lpstr>PowerPoint 演示文稿</vt:lpstr>
      <vt:lpstr>前言-汇报要求</vt:lpstr>
      <vt:lpstr>前言-汇报要求</vt:lpstr>
      <vt:lpstr>PowerPoint 演示文稿</vt:lpstr>
      <vt:lpstr>会议日程</vt:lpstr>
      <vt:lpstr>PowerPoint 演示文稿</vt:lpstr>
      <vt:lpstr>项目计划</vt:lpstr>
      <vt:lpstr>PowerPoint 演示文稿</vt:lpstr>
      <vt:lpstr>PowerPoint 演示文稿</vt:lpstr>
      <vt:lpstr>行动项回顾</vt:lpstr>
      <vt:lpstr>PowerPoint 演示文稿</vt:lpstr>
      <vt:lpstr>PowerPoint 演示文稿</vt:lpstr>
      <vt:lpstr>XXXX-工作进展汇报</vt:lpstr>
      <vt:lpstr>工作进展</vt:lpstr>
      <vt:lpstr>案例展示</vt:lpstr>
      <vt:lpstr>PowerPoint 演示文稿</vt:lpstr>
      <vt:lpstr>数据汇报</vt:lpstr>
      <vt:lpstr>PowerPoint 演示文稿</vt:lpstr>
      <vt:lpstr>问题讨论(如有,复杂问题建议专题讨论）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金红敏</dc:creator>
  <cp:lastModifiedBy>许献</cp:lastModifiedBy>
  <cp:revision>294</cp:revision>
  <dcterms:created xsi:type="dcterms:W3CDTF">2021-03-14T15:06:18Z</dcterms:created>
  <dcterms:modified xsi:type="dcterms:W3CDTF">2023-12-11T08:24:26Z</dcterms:modified>
</cp:coreProperties>
</file>